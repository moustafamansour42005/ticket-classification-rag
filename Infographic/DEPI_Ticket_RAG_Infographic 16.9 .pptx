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7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256032"/>
            <a:ext cx="1417320" cy="512064"/>
          </a:xfrm>
          <a:prstGeom prst="roundRect">
            <a:avLst>
              <a:gd name="adj" fmla="val 14286"/>
            </a:avLst>
          </a:prstGeom>
          <a:solidFill>
            <a:srgbClr val="1E2761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256032"/>
            <a:ext cx="14173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DEPI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365760" y="786384"/>
            <a:ext cx="2377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Digital Egypt Pioneers Initiative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2148840" y="201168"/>
            <a:ext cx="7863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AI-Powered Ticket Classification System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2148840" y="585216"/>
            <a:ext cx="7863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i="1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Retrieval-Augmented Generation (RAG) for Automated Support-Ticket Triage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10195560" y="256032"/>
            <a:ext cx="1627632" cy="512064"/>
          </a:xfrm>
          <a:prstGeom prst="roundRect">
            <a:avLst>
              <a:gd name="adj" fmla="val 17857"/>
            </a:avLst>
          </a:prstGeom>
          <a:solidFill>
            <a:srgbClr val="5B3E96"/>
          </a:solidFill>
          <a:ln/>
        </p:spPr>
      </p:sp>
      <p:sp>
        <p:nvSpPr>
          <p:cNvPr id="8" name="Text 6"/>
          <p:cNvSpPr/>
          <p:nvPr/>
        </p:nvSpPr>
        <p:spPr>
          <a:xfrm>
            <a:off x="10195560" y="256032"/>
            <a:ext cx="162763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D9CF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TRACK
</a:t>
            </a:r>
            <a:endParaRPr lang="en-US" sz="750" dirty="0"/>
          </a:p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&amp; Data Science</a:t>
            </a:r>
            <a:endParaRPr lang="en-US" sz="750" dirty="0"/>
          </a:p>
        </p:txBody>
      </p:sp>
      <p:sp>
        <p:nvSpPr>
          <p:cNvPr id="9" name="Shape 7"/>
          <p:cNvSpPr/>
          <p:nvPr/>
        </p:nvSpPr>
        <p:spPr>
          <a:xfrm>
            <a:off x="365760" y="1042416"/>
            <a:ext cx="11457432" cy="384048"/>
          </a:xfrm>
          <a:prstGeom prst="roundRect">
            <a:avLst>
              <a:gd name="adj" fmla="val 14286"/>
            </a:avLst>
          </a:prstGeom>
          <a:solidFill>
            <a:srgbClr val="EDEBFA"/>
          </a:solidFill>
          <a:ln/>
        </p:spPr>
      </p:sp>
      <p:sp>
        <p:nvSpPr>
          <p:cNvPr id="10" name="Text 8"/>
          <p:cNvSpPr/>
          <p:nvPr/>
        </p:nvSpPr>
        <p:spPr>
          <a:xfrm>
            <a:off x="548640" y="1042416"/>
            <a:ext cx="1109167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Automates ticket triage end-to-end: classifies incoming tickets by category, priority &amp; department using RAG over historical tickets, grounds every decision in retrieved evidence, and learns from admin feedback.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365760" y="1536192"/>
            <a:ext cx="2713482" cy="1481328"/>
          </a:xfrm>
          <a:prstGeom prst="roundRect">
            <a:avLst>
              <a:gd name="adj" fmla="val 4938"/>
            </a:avLst>
          </a:prstGeom>
          <a:solidFill>
            <a:srgbClr val="FFFFFF"/>
          </a:solidFill>
          <a:ln w="9525">
            <a:solidFill>
              <a:srgbClr val="D8DEE9"/>
            </a:solidFill>
            <a:prstDash val="solid"/>
          </a:ln>
          <a:effectLst>
            <a:outerShdw sx="100000" sy="100000" kx="0" ky="0" algn="bl" rotWithShape="0" blurRad="63500" dist="25400" dir="5400000">
              <a:srgbClr val="8A8A8A">
                <a:alpha val="25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493776" y="1645920"/>
            <a:ext cx="274320" cy="274320"/>
          </a:xfrm>
          <a:prstGeom prst="ellipse">
            <a:avLst/>
          </a:prstGeom>
          <a:solidFill>
            <a:srgbClr val="E8720C"/>
          </a:solidFill>
          <a:ln/>
        </p:spPr>
      </p:sp>
      <p:sp>
        <p:nvSpPr>
          <p:cNvPr id="13" name="Text 11"/>
          <p:cNvSpPr/>
          <p:nvPr/>
        </p:nvSpPr>
        <p:spPr>
          <a:xfrm>
            <a:off x="868680" y="1609344"/>
            <a:ext cx="207340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Problem</a:t>
            </a:r>
            <a:endParaRPr lang="en-US" sz="1250" dirty="0"/>
          </a:p>
        </p:txBody>
      </p:sp>
      <p:sp>
        <p:nvSpPr>
          <p:cNvPr id="14" name="Text 12"/>
          <p:cNvSpPr/>
          <p:nvPr/>
        </p:nvSpPr>
        <p:spPr>
          <a:xfrm>
            <a:off x="530352" y="1938528"/>
            <a:ext cx="2384298" cy="82892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27000" indent="-127000">
              <a:spcAft>
                <a:spcPts val="400"/>
              </a:spcAft>
              <a:buSzPct val="100000"/>
              <a:buChar char="•"/>
            </a:pPr>
            <a:r>
              <a:rPr lang="en-US" sz="93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Manual triage is slow &amp; inconsistent</a:t>
            </a:r>
            <a:endParaRPr lang="en-US" sz="930" dirty="0"/>
          </a:p>
          <a:p>
            <a:pPr marL="127000" indent="-127000">
              <a:spcAft>
                <a:spcPts val="400"/>
              </a:spcAft>
              <a:buSzPct val="100000"/>
              <a:buChar char="•"/>
            </a:pPr>
            <a:r>
              <a:rPr lang="en-US" sz="93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Doesn't scale with ticket volume</a:t>
            </a:r>
            <a:endParaRPr lang="en-US" sz="930" dirty="0"/>
          </a:p>
          <a:p>
            <a:pPr marL="127000" indent="-127000">
              <a:spcAft>
                <a:spcPts val="400"/>
              </a:spcAft>
              <a:buSzPct val="100000"/>
              <a:buChar char="•"/>
            </a:pPr>
            <a:r>
              <a:rPr lang="en-US" sz="93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Black-box labels lack explainability</a:t>
            </a:r>
            <a:endParaRPr lang="en-US" sz="930" dirty="0"/>
          </a:p>
        </p:txBody>
      </p:sp>
      <p:sp>
        <p:nvSpPr>
          <p:cNvPr id="15" name="Shape 13"/>
          <p:cNvSpPr/>
          <p:nvPr/>
        </p:nvSpPr>
        <p:spPr>
          <a:xfrm>
            <a:off x="365760" y="3163824"/>
            <a:ext cx="2713482" cy="1481328"/>
          </a:xfrm>
          <a:prstGeom prst="roundRect">
            <a:avLst>
              <a:gd name="adj" fmla="val 4938"/>
            </a:avLst>
          </a:prstGeom>
          <a:solidFill>
            <a:srgbClr val="FFFFFF"/>
          </a:solidFill>
          <a:ln w="9525">
            <a:solidFill>
              <a:srgbClr val="D8DEE9"/>
            </a:solidFill>
            <a:prstDash val="solid"/>
          </a:ln>
          <a:effectLst>
            <a:outerShdw sx="100000" sy="100000" kx="0" ky="0" algn="bl" rotWithShape="0" blurRad="63500" dist="25400" dir="5400000">
              <a:srgbClr val="8A8A8A">
                <a:alpha val="25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493776" y="3273552"/>
            <a:ext cx="274320" cy="274320"/>
          </a:xfrm>
          <a:prstGeom prst="ellipse">
            <a:avLst/>
          </a:prstGeom>
          <a:solidFill>
            <a:srgbClr val="1F9D55"/>
          </a:solidFill>
          <a:ln/>
        </p:spPr>
      </p:sp>
      <p:sp>
        <p:nvSpPr>
          <p:cNvPr id="17" name="Text 15"/>
          <p:cNvSpPr/>
          <p:nvPr/>
        </p:nvSpPr>
        <p:spPr>
          <a:xfrm>
            <a:off x="868680" y="3236976"/>
            <a:ext cx="207340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RAG Solution</a:t>
            </a:r>
            <a:endParaRPr lang="en-US" sz="1250" dirty="0"/>
          </a:p>
        </p:txBody>
      </p:sp>
      <p:sp>
        <p:nvSpPr>
          <p:cNvPr id="18" name="Text 16"/>
          <p:cNvSpPr/>
          <p:nvPr/>
        </p:nvSpPr>
        <p:spPr>
          <a:xfrm>
            <a:off x="530352" y="3566160"/>
            <a:ext cx="2384298" cy="82892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27000" indent="-127000">
              <a:spcAft>
                <a:spcPts val="400"/>
              </a:spcAft>
              <a:buSzPct val="100000"/>
              <a:buChar char="•"/>
            </a:pPr>
            <a:r>
              <a:rPr lang="en-US" sz="93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Retrieves similar historical tickets</a:t>
            </a:r>
            <a:endParaRPr lang="en-US" sz="930" dirty="0"/>
          </a:p>
          <a:p>
            <a:pPr marL="127000" indent="-127000">
              <a:spcAft>
                <a:spcPts val="400"/>
              </a:spcAft>
              <a:buSzPct val="100000"/>
              <a:buChar char="•"/>
            </a:pPr>
            <a:r>
              <a:rPr lang="en-US" sz="93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Evidence-grounded predictions</a:t>
            </a:r>
            <a:endParaRPr lang="en-US" sz="930" dirty="0"/>
          </a:p>
          <a:p>
            <a:pPr marL="127000" indent="-127000">
              <a:spcAft>
                <a:spcPts val="400"/>
              </a:spcAft>
              <a:buSzPct val="100000"/>
              <a:buChar char="•"/>
            </a:pPr>
            <a:r>
              <a:rPr lang="en-US" sz="93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Fully offline fallback (no API needed)</a:t>
            </a:r>
            <a:endParaRPr lang="en-US" sz="930" dirty="0"/>
          </a:p>
        </p:txBody>
      </p:sp>
      <p:sp>
        <p:nvSpPr>
          <p:cNvPr id="19" name="Shape 17"/>
          <p:cNvSpPr/>
          <p:nvPr/>
        </p:nvSpPr>
        <p:spPr>
          <a:xfrm>
            <a:off x="365760" y="4791456"/>
            <a:ext cx="2713482" cy="1316736"/>
          </a:xfrm>
          <a:prstGeom prst="roundRect">
            <a:avLst>
              <a:gd name="adj" fmla="val 5556"/>
            </a:avLst>
          </a:prstGeom>
          <a:solidFill>
            <a:srgbClr val="FFFFFF"/>
          </a:solidFill>
          <a:ln w="9525">
            <a:solidFill>
              <a:srgbClr val="D8DEE9"/>
            </a:solidFill>
            <a:prstDash val="solid"/>
          </a:ln>
          <a:effectLst>
            <a:outerShdw sx="100000" sy="100000" kx="0" ky="0" algn="bl" rotWithShape="0" blurRad="63500" dist="25400" dir="5400000">
              <a:srgbClr val="8A8A8A">
                <a:alpha val="25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493776" y="4901184"/>
            <a:ext cx="274320" cy="274320"/>
          </a:xfrm>
          <a:prstGeom prst="ellipse">
            <a:avLst/>
          </a:prstGeom>
          <a:solidFill>
            <a:srgbClr val="0092A8"/>
          </a:solidFill>
          <a:ln/>
        </p:spPr>
      </p:sp>
      <p:sp>
        <p:nvSpPr>
          <p:cNvPr id="21" name="Text 19"/>
          <p:cNvSpPr/>
          <p:nvPr/>
        </p:nvSpPr>
        <p:spPr>
          <a:xfrm>
            <a:off x="868680" y="4864608"/>
            <a:ext cx="207340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 Users</a:t>
            </a:r>
            <a:endParaRPr lang="en-US" sz="1250" dirty="0"/>
          </a:p>
        </p:txBody>
      </p:sp>
      <p:sp>
        <p:nvSpPr>
          <p:cNvPr id="22" name="Text 20"/>
          <p:cNvSpPr/>
          <p:nvPr/>
        </p:nvSpPr>
        <p:spPr>
          <a:xfrm>
            <a:off x="530352" y="5157216"/>
            <a:ext cx="2384298" cy="82892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27000" indent="-127000">
              <a:spcAft>
                <a:spcPts val="400"/>
              </a:spcAft>
              <a:buSzPct val="100000"/>
              <a:buChar char="•"/>
            </a:pPr>
            <a:r>
              <a:rPr lang="en-US" sz="93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Customers — submit &amp; track tickets</a:t>
            </a:r>
            <a:endParaRPr lang="en-US" sz="930" dirty="0"/>
          </a:p>
          <a:p>
            <a:pPr marL="127000" indent="-127000">
              <a:spcAft>
                <a:spcPts val="400"/>
              </a:spcAft>
              <a:buSzPct val="100000"/>
              <a:buChar char="•"/>
            </a:pPr>
            <a:r>
              <a:rPr lang="en-US" sz="93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Support Employees — work assigned queue</a:t>
            </a:r>
            <a:endParaRPr lang="en-US" sz="930" dirty="0"/>
          </a:p>
          <a:p>
            <a:pPr marL="127000" indent="-127000">
              <a:spcAft>
                <a:spcPts val="400"/>
              </a:spcAft>
              <a:buSzPct val="100000"/>
              <a:buChar char="•"/>
            </a:pPr>
            <a:r>
              <a:rPr lang="en-US" sz="93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Administrators — oversight &amp; correction</a:t>
            </a:r>
            <a:endParaRPr lang="en-US" sz="930" dirty="0"/>
          </a:p>
        </p:txBody>
      </p:sp>
      <p:sp>
        <p:nvSpPr>
          <p:cNvPr id="23" name="Shape 21"/>
          <p:cNvSpPr/>
          <p:nvPr/>
        </p:nvSpPr>
        <p:spPr>
          <a:xfrm>
            <a:off x="3280410" y="1536192"/>
            <a:ext cx="2713482" cy="4572000"/>
          </a:xfrm>
          <a:prstGeom prst="roundRect">
            <a:avLst>
              <a:gd name="adj" fmla="val 2696"/>
            </a:avLst>
          </a:prstGeom>
          <a:solidFill>
            <a:srgbClr val="FFFFFF"/>
          </a:solidFill>
          <a:ln w="9525">
            <a:solidFill>
              <a:srgbClr val="D8DEE9"/>
            </a:solidFill>
            <a:prstDash val="solid"/>
          </a:ln>
          <a:effectLst>
            <a:outerShdw sx="100000" sy="100000" kx="0" ky="0" algn="bl" rotWithShape="0" blurRad="63500" dist="25400" dir="5400000">
              <a:srgbClr val="8A8A8A">
                <a:alpha val="25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3408426" y="1645920"/>
            <a:ext cx="274320" cy="27432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25" name="Text 23"/>
          <p:cNvSpPr/>
          <p:nvPr/>
        </p:nvSpPr>
        <p:spPr>
          <a:xfrm>
            <a:off x="3783330" y="1609344"/>
            <a:ext cx="207340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Features</a:t>
            </a:r>
            <a:endParaRPr lang="en-US" sz="1250" dirty="0"/>
          </a:p>
        </p:txBody>
      </p:sp>
      <p:sp>
        <p:nvSpPr>
          <p:cNvPr id="26" name="Shape 24"/>
          <p:cNvSpPr/>
          <p:nvPr/>
        </p:nvSpPr>
        <p:spPr>
          <a:xfrm>
            <a:off x="3426714" y="2273808"/>
            <a:ext cx="109728" cy="109728"/>
          </a:xfrm>
          <a:prstGeom prst="ellipse">
            <a:avLst/>
          </a:prstGeom>
          <a:solidFill>
            <a:srgbClr val="0092A8"/>
          </a:solidFill>
          <a:ln/>
        </p:spPr>
      </p:sp>
      <p:sp>
        <p:nvSpPr>
          <p:cNvPr id="27" name="Text 25"/>
          <p:cNvSpPr/>
          <p:nvPr/>
        </p:nvSpPr>
        <p:spPr>
          <a:xfrm>
            <a:off x="3646170" y="1975104"/>
            <a:ext cx="2210562" cy="670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80" b="1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 Classification
</a:t>
            </a:r>
            <a:endParaRPr lang="en-US" sz="980" dirty="0"/>
          </a:p>
          <a:p>
            <a:pPr indent="0" marL="0">
              <a:buNone/>
            </a:pPr>
            <a:r>
              <a:rPr lang="en-US" sz="82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Category · priority · dept · ETA · confidence</a:t>
            </a:r>
            <a:endParaRPr lang="en-US" sz="980" dirty="0"/>
          </a:p>
        </p:txBody>
      </p:sp>
      <p:sp>
        <p:nvSpPr>
          <p:cNvPr id="28" name="Shape 26"/>
          <p:cNvSpPr/>
          <p:nvPr/>
        </p:nvSpPr>
        <p:spPr>
          <a:xfrm>
            <a:off x="3426714" y="2944368"/>
            <a:ext cx="109728" cy="109728"/>
          </a:xfrm>
          <a:prstGeom prst="ellipse">
            <a:avLst/>
          </a:prstGeom>
          <a:solidFill>
            <a:srgbClr val="0092A8"/>
          </a:solidFill>
          <a:ln/>
        </p:spPr>
      </p:sp>
      <p:sp>
        <p:nvSpPr>
          <p:cNvPr id="29" name="Text 27"/>
          <p:cNvSpPr/>
          <p:nvPr/>
        </p:nvSpPr>
        <p:spPr>
          <a:xfrm>
            <a:off x="3646170" y="2645664"/>
            <a:ext cx="2210562" cy="670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80" b="1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Explainable Evidence
</a:t>
            </a:r>
            <a:endParaRPr lang="en-US" sz="980" dirty="0"/>
          </a:p>
          <a:p>
            <a:pPr indent="0" marL="0">
              <a:buNone/>
            </a:pPr>
            <a:r>
              <a:rPr lang="en-US" sz="82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Top-k similar tickets shown as proof</a:t>
            </a:r>
            <a:endParaRPr lang="en-US" sz="980" dirty="0"/>
          </a:p>
        </p:txBody>
      </p:sp>
      <p:sp>
        <p:nvSpPr>
          <p:cNvPr id="30" name="Shape 28"/>
          <p:cNvSpPr/>
          <p:nvPr/>
        </p:nvSpPr>
        <p:spPr>
          <a:xfrm>
            <a:off x="3426714" y="3614928"/>
            <a:ext cx="109728" cy="109728"/>
          </a:xfrm>
          <a:prstGeom prst="ellipse">
            <a:avLst/>
          </a:prstGeom>
          <a:solidFill>
            <a:srgbClr val="0092A8"/>
          </a:solidFill>
          <a:ln/>
        </p:spPr>
      </p:sp>
      <p:sp>
        <p:nvSpPr>
          <p:cNvPr id="31" name="Text 29"/>
          <p:cNvSpPr/>
          <p:nvPr/>
        </p:nvSpPr>
        <p:spPr>
          <a:xfrm>
            <a:off x="3646170" y="3316224"/>
            <a:ext cx="2210562" cy="670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80" b="1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Sentiment &amp; Urgency
</a:t>
            </a:r>
            <a:endParaRPr lang="en-US" sz="980" dirty="0"/>
          </a:p>
          <a:p>
            <a:pPr indent="0" marL="0">
              <a:buNone/>
            </a:pPr>
            <a:r>
              <a:rPr lang="en-US" sz="82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Emotion + urgency detection (NLP models)</a:t>
            </a:r>
            <a:endParaRPr lang="en-US" sz="980" dirty="0"/>
          </a:p>
        </p:txBody>
      </p:sp>
      <p:sp>
        <p:nvSpPr>
          <p:cNvPr id="32" name="Shape 30"/>
          <p:cNvSpPr/>
          <p:nvPr/>
        </p:nvSpPr>
        <p:spPr>
          <a:xfrm>
            <a:off x="3426714" y="4285488"/>
            <a:ext cx="109728" cy="109728"/>
          </a:xfrm>
          <a:prstGeom prst="ellipse">
            <a:avLst/>
          </a:prstGeom>
          <a:solidFill>
            <a:srgbClr val="0092A8"/>
          </a:solidFill>
          <a:ln/>
        </p:spPr>
      </p:sp>
      <p:sp>
        <p:nvSpPr>
          <p:cNvPr id="33" name="Text 31"/>
          <p:cNvSpPr/>
          <p:nvPr/>
        </p:nvSpPr>
        <p:spPr>
          <a:xfrm>
            <a:off x="3646170" y="3986784"/>
            <a:ext cx="2210562" cy="670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80" b="1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 Routing
</a:t>
            </a:r>
            <a:endParaRPr lang="en-US" sz="980" dirty="0"/>
          </a:p>
          <a:p>
            <a:pPr indent="0" marL="0">
              <a:buNone/>
            </a:pPr>
            <a:r>
              <a:rPr lang="en-US" sz="82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Auto-assign to available employee + notify</a:t>
            </a:r>
            <a:endParaRPr lang="en-US" sz="980" dirty="0"/>
          </a:p>
        </p:txBody>
      </p:sp>
      <p:sp>
        <p:nvSpPr>
          <p:cNvPr id="34" name="Shape 32"/>
          <p:cNvSpPr/>
          <p:nvPr/>
        </p:nvSpPr>
        <p:spPr>
          <a:xfrm>
            <a:off x="3426714" y="4956048"/>
            <a:ext cx="109728" cy="109728"/>
          </a:xfrm>
          <a:prstGeom prst="ellipse">
            <a:avLst/>
          </a:prstGeom>
          <a:solidFill>
            <a:srgbClr val="0092A8"/>
          </a:solidFill>
          <a:ln/>
        </p:spPr>
      </p:sp>
      <p:sp>
        <p:nvSpPr>
          <p:cNvPr id="35" name="Text 33"/>
          <p:cNvSpPr/>
          <p:nvPr/>
        </p:nvSpPr>
        <p:spPr>
          <a:xfrm>
            <a:off x="3646170" y="4657344"/>
            <a:ext cx="2210562" cy="670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80" b="1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Feedback Loop
</a:t>
            </a:r>
            <a:endParaRPr lang="en-US" sz="980" dirty="0"/>
          </a:p>
          <a:p>
            <a:pPr indent="0" marL="0">
              <a:buNone/>
            </a:pPr>
            <a:r>
              <a:rPr lang="en-US" sz="82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 corrections improve future results</a:t>
            </a:r>
            <a:endParaRPr lang="en-US" sz="980" dirty="0"/>
          </a:p>
        </p:txBody>
      </p:sp>
      <p:sp>
        <p:nvSpPr>
          <p:cNvPr id="36" name="Shape 34"/>
          <p:cNvSpPr/>
          <p:nvPr/>
        </p:nvSpPr>
        <p:spPr>
          <a:xfrm>
            <a:off x="3426714" y="5626608"/>
            <a:ext cx="109728" cy="109728"/>
          </a:xfrm>
          <a:prstGeom prst="ellipse">
            <a:avLst/>
          </a:prstGeom>
          <a:solidFill>
            <a:srgbClr val="0092A8"/>
          </a:solidFill>
          <a:ln/>
        </p:spPr>
      </p:sp>
      <p:sp>
        <p:nvSpPr>
          <p:cNvPr id="37" name="Text 35"/>
          <p:cNvSpPr/>
          <p:nvPr/>
        </p:nvSpPr>
        <p:spPr>
          <a:xfrm>
            <a:off x="3646170" y="5327904"/>
            <a:ext cx="2210562" cy="670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80" b="1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Chat Assistant
</a:t>
            </a:r>
            <a:endParaRPr lang="en-US" sz="980" dirty="0"/>
          </a:p>
          <a:p>
            <a:pPr indent="0" marL="0">
              <a:buNone/>
            </a:pPr>
            <a:r>
              <a:rPr lang="en-US" sz="82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Gemini-powered Q&amp;A on any ticket</a:t>
            </a:r>
            <a:endParaRPr lang="en-US" sz="980" dirty="0"/>
          </a:p>
        </p:txBody>
      </p:sp>
      <p:sp>
        <p:nvSpPr>
          <p:cNvPr id="38" name="Shape 36"/>
          <p:cNvSpPr/>
          <p:nvPr/>
        </p:nvSpPr>
        <p:spPr>
          <a:xfrm>
            <a:off x="6195060" y="1536192"/>
            <a:ext cx="2713482" cy="4572000"/>
          </a:xfrm>
          <a:prstGeom prst="roundRect">
            <a:avLst>
              <a:gd name="adj" fmla="val 2696"/>
            </a:avLst>
          </a:prstGeom>
          <a:solidFill>
            <a:srgbClr val="FFFFFF"/>
          </a:solidFill>
          <a:ln w="9525">
            <a:solidFill>
              <a:srgbClr val="D8DEE9"/>
            </a:solidFill>
            <a:prstDash val="solid"/>
          </a:ln>
          <a:effectLst>
            <a:outerShdw sx="100000" sy="100000" kx="0" ky="0" algn="bl" rotWithShape="0" blurRad="63500" dist="25400" dir="5400000">
              <a:srgbClr val="8A8A8A">
                <a:alpha val="25000"/>
              </a:srgbClr>
            </a:outerShdw>
          </a:effectLst>
        </p:spPr>
      </p:sp>
      <p:sp>
        <p:nvSpPr>
          <p:cNvPr id="39" name="Shape 37"/>
          <p:cNvSpPr/>
          <p:nvPr/>
        </p:nvSpPr>
        <p:spPr>
          <a:xfrm>
            <a:off x="6323076" y="1645920"/>
            <a:ext cx="274320" cy="274320"/>
          </a:xfrm>
          <a:prstGeom prst="ellipse">
            <a:avLst/>
          </a:prstGeom>
          <a:solidFill>
            <a:srgbClr val="5B3E96"/>
          </a:solidFill>
          <a:ln/>
        </p:spPr>
      </p:sp>
      <p:sp>
        <p:nvSpPr>
          <p:cNvPr id="40" name="Text 38"/>
          <p:cNvSpPr/>
          <p:nvPr/>
        </p:nvSpPr>
        <p:spPr>
          <a:xfrm>
            <a:off x="6697980" y="1609344"/>
            <a:ext cx="207340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Architecture</a:t>
            </a:r>
            <a:endParaRPr lang="en-US" sz="1250" dirty="0"/>
          </a:p>
        </p:txBody>
      </p:sp>
      <p:sp>
        <p:nvSpPr>
          <p:cNvPr id="41" name="Shape 39"/>
          <p:cNvSpPr/>
          <p:nvPr/>
        </p:nvSpPr>
        <p:spPr>
          <a:xfrm>
            <a:off x="6341364" y="1975104"/>
            <a:ext cx="2420874" cy="560832"/>
          </a:xfrm>
          <a:prstGeom prst="roundRect">
            <a:avLst>
              <a:gd name="adj" fmla="val 8152"/>
            </a:avLst>
          </a:prstGeom>
          <a:solidFill>
            <a:srgbClr val="EAF3FA"/>
          </a:solidFill>
          <a:ln w="9525">
            <a:solidFill>
              <a:srgbClr val="D8DEE9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6432804" y="1975104"/>
            <a:ext cx="2237994" cy="5608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6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(Customer / Employee / Admin)</a:t>
            </a:r>
            <a:endParaRPr lang="en-US" sz="860" dirty="0"/>
          </a:p>
        </p:txBody>
      </p:sp>
      <p:sp>
        <p:nvSpPr>
          <p:cNvPr id="43" name="Text 41"/>
          <p:cNvSpPr/>
          <p:nvPr/>
        </p:nvSpPr>
        <p:spPr>
          <a:xfrm>
            <a:off x="6341364" y="2517648"/>
            <a:ext cx="242087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5B3E96"/>
                </a:solidFill>
              </a:rPr>
              <a:t>▼</a:t>
            </a:r>
            <a:endParaRPr lang="en-US" sz="800" dirty="0"/>
          </a:p>
        </p:txBody>
      </p:sp>
      <p:sp>
        <p:nvSpPr>
          <p:cNvPr id="44" name="Shape 42"/>
          <p:cNvSpPr/>
          <p:nvPr/>
        </p:nvSpPr>
        <p:spPr>
          <a:xfrm>
            <a:off x="6341364" y="2645664"/>
            <a:ext cx="2420874" cy="560832"/>
          </a:xfrm>
          <a:prstGeom prst="roundRect">
            <a:avLst>
              <a:gd name="adj" fmla="val 8152"/>
            </a:avLst>
          </a:prstGeom>
          <a:solidFill>
            <a:srgbClr val="F1F5F0"/>
          </a:solidFill>
          <a:ln w="9525">
            <a:solidFill>
              <a:srgbClr val="D8DEE9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6432804" y="2645664"/>
            <a:ext cx="2237994" cy="5608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6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Streamlit Web App (UI)</a:t>
            </a:r>
            <a:endParaRPr lang="en-US" sz="860" dirty="0"/>
          </a:p>
        </p:txBody>
      </p:sp>
      <p:sp>
        <p:nvSpPr>
          <p:cNvPr id="46" name="Text 44"/>
          <p:cNvSpPr/>
          <p:nvPr/>
        </p:nvSpPr>
        <p:spPr>
          <a:xfrm>
            <a:off x="6341364" y="3188208"/>
            <a:ext cx="242087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5B3E96"/>
                </a:solidFill>
              </a:rPr>
              <a:t>▼</a:t>
            </a:r>
            <a:endParaRPr lang="en-US" sz="800" dirty="0"/>
          </a:p>
        </p:txBody>
      </p:sp>
      <p:sp>
        <p:nvSpPr>
          <p:cNvPr id="47" name="Shape 45"/>
          <p:cNvSpPr/>
          <p:nvPr/>
        </p:nvSpPr>
        <p:spPr>
          <a:xfrm>
            <a:off x="6341364" y="3316224"/>
            <a:ext cx="2420874" cy="560832"/>
          </a:xfrm>
          <a:prstGeom prst="roundRect">
            <a:avLst>
              <a:gd name="adj" fmla="val 8152"/>
            </a:avLst>
          </a:prstGeom>
          <a:solidFill>
            <a:srgbClr val="EDEBFA"/>
          </a:solidFill>
          <a:ln w="9525">
            <a:solidFill>
              <a:srgbClr val="D8DEE9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6432804" y="3316224"/>
            <a:ext cx="2237994" cy="5608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60" b="1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RAG Ticket Classifier</a:t>
            </a:r>
            <a:endParaRPr lang="en-US" sz="860" dirty="0"/>
          </a:p>
        </p:txBody>
      </p:sp>
      <p:sp>
        <p:nvSpPr>
          <p:cNvPr id="49" name="Text 47"/>
          <p:cNvSpPr/>
          <p:nvPr/>
        </p:nvSpPr>
        <p:spPr>
          <a:xfrm>
            <a:off x="6341364" y="3858768"/>
            <a:ext cx="242087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5B3E96"/>
                </a:solidFill>
              </a:rPr>
              <a:t>▼</a:t>
            </a:r>
            <a:endParaRPr lang="en-US" sz="800" dirty="0"/>
          </a:p>
        </p:txBody>
      </p:sp>
      <p:sp>
        <p:nvSpPr>
          <p:cNvPr id="50" name="Shape 48"/>
          <p:cNvSpPr/>
          <p:nvPr/>
        </p:nvSpPr>
        <p:spPr>
          <a:xfrm>
            <a:off x="6341364" y="3986784"/>
            <a:ext cx="2420874" cy="560832"/>
          </a:xfrm>
          <a:prstGeom prst="roundRect">
            <a:avLst>
              <a:gd name="adj" fmla="val 8152"/>
            </a:avLst>
          </a:prstGeom>
          <a:solidFill>
            <a:srgbClr val="F1F5F0"/>
          </a:solidFill>
          <a:ln w="9525">
            <a:solidFill>
              <a:srgbClr val="D8DEE9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6432804" y="3986784"/>
            <a:ext cx="2237994" cy="5608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6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Embedder + FAISS Vector Store</a:t>
            </a:r>
            <a:endParaRPr lang="en-US" sz="860" dirty="0"/>
          </a:p>
        </p:txBody>
      </p:sp>
      <p:sp>
        <p:nvSpPr>
          <p:cNvPr id="52" name="Text 50"/>
          <p:cNvSpPr/>
          <p:nvPr/>
        </p:nvSpPr>
        <p:spPr>
          <a:xfrm>
            <a:off x="6341364" y="4529328"/>
            <a:ext cx="242087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5B3E96"/>
                </a:solidFill>
              </a:rPr>
              <a:t>▼</a:t>
            </a:r>
            <a:endParaRPr lang="en-US" sz="800" dirty="0"/>
          </a:p>
        </p:txBody>
      </p:sp>
      <p:sp>
        <p:nvSpPr>
          <p:cNvPr id="53" name="Shape 51"/>
          <p:cNvSpPr/>
          <p:nvPr/>
        </p:nvSpPr>
        <p:spPr>
          <a:xfrm>
            <a:off x="6341364" y="4657344"/>
            <a:ext cx="2420874" cy="560832"/>
          </a:xfrm>
          <a:prstGeom prst="roundRect">
            <a:avLst>
              <a:gd name="adj" fmla="val 8152"/>
            </a:avLst>
          </a:prstGeom>
          <a:solidFill>
            <a:srgbClr val="EAF3FA"/>
          </a:solidFill>
          <a:ln w="9525">
            <a:solidFill>
              <a:srgbClr val="D8DEE9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6432804" y="4657344"/>
            <a:ext cx="2237994" cy="5608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6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NLP Enrichment + SQLite DB</a:t>
            </a:r>
            <a:endParaRPr lang="en-US" sz="860" dirty="0"/>
          </a:p>
        </p:txBody>
      </p:sp>
      <p:sp>
        <p:nvSpPr>
          <p:cNvPr id="55" name="Text 53"/>
          <p:cNvSpPr/>
          <p:nvPr/>
        </p:nvSpPr>
        <p:spPr>
          <a:xfrm>
            <a:off x="6341364" y="5199888"/>
            <a:ext cx="242087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5B3E96"/>
                </a:solidFill>
              </a:rPr>
              <a:t>▼</a:t>
            </a:r>
            <a:endParaRPr lang="en-US" sz="800" dirty="0"/>
          </a:p>
        </p:txBody>
      </p:sp>
      <p:sp>
        <p:nvSpPr>
          <p:cNvPr id="56" name="Shape 54"/>
          <p:cNvSpPr/>
          <p:nvPr/>
        </p:nvSpPr>
        <p:spPr>
          <a:xfrm>
            <a:off x="6341364" y="5327904"/>
            <a:ext cx="2420874" cy="560832"/>
          </a:xfrm>
          <a:prstGeom prst="roundRect">
            <a:avLst>
              <a:gd name="adj" fmla="val 8152"/>
            </a:avLst>
          </a:prstGeom>
          <a:solidFill>
            <a:srgbClr val="F1F5F0"/>
          </a:solidFill>
          <a:ln w="9525">
            <a:solidFill>
              <a:srgbClr val="D8DEE9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6432804" y="5327904"/>
            <a:ext cx="2237994" cy="5608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6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Gemini AI Assistant / Dashboards</a:t>
            </a:r>
            <a:endParaRPr lang="en-US" sz="860" dirty="0"/>
          </a:p>
        </p:txBody>
      </p:sp>
      <p:sp>
        <p:nvSpPr>
          <p:cNvPr id="58" name="Shape 56"/>
          <p:cNvSpPr/>
          <p:nvPr/>
        </p:nvSpPr>
        <p:spPr>
          <a:xfrm>
            <a:off x="9109710" y="1536192"/>
            <a:ext cx="2713482" cy="2084832"/>
          </a:xfrm>
          <a:prstGeom prst="roundRect">
            <a:avLst>
              <a:gd name="adj" fmla="val 3509"/>
            </a:avLst>
          </a:prstGeom>
          <a:solidFill>
            <a:srgbClr val="FFFFFF"/>
          </a:solidFill>
          <a:ln w="9525">
            <a:solidFill>
              <a:srgbClr val="D8DEE9"/>
            </a:solidFill>
            <a:prstDash val="solid"/>
          </a:ln>
          <a:effectLst>
            <a:outerShdw sx="100000" sy="100000" kx="0" ky="0" algn="bl" rotWithShape="0" blurRad="63500" dist="25400" dir="5400000">
              <a:srgbClr val="8A8A8A">
                <a:alpha val="25000"/>
              </a:srgbClr>
            </a:outerShdw>
          </a:effectLst>
        </p:spPr>
      </p:sp>
      <p:sp>
        <p:nvSpPr>
          <p:cNvPr id="59" name="Shape 57"/>
          <p:cNvSpPr/>
          <p:nvPr/>
        </p:nvSpPr>
        <p:spPr>
          <a:xfrm>
            <a:off x="9237726" y="1645920"/>
            <a:ext cx="274320" cy="274320"/>
          </a:xfrm>
          <a:prstGeom prst="ellipse">
            <a:avLst/>
          </a:prstGeom>
          <a:solidFill>
            <a:srgbClr val="1F9D55"/>
          </a:solidFill>
          <a:ln/>
        </p:spPr>
      </p:sp>
      <p:sp>
        <p:nvSpPr>
          <p:cNvPr id="60" name="Text 58"/>
          <p:cNvSpPr/>
          <p:nvPr/>
        </p:nvSpPr>
        <p:spPr>
          <a:xfrm>
            <a:off x="9612630" y="1609344"/>
            <a:ext cx="207340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Components</a:t>
            </a:r>
            <a:endParaRPr lang="en-US" sz="1250" dirty="0"/>
          </a:p>
        </p:txBody>
      </p:sp>
      <p:sp>
        <p:nvSpPr>
          <p:cNvPr id="61" name="Shape 59"/>
          <p:cNvSpPr/>
          <p:nvPr/>
        </p:nvSpPr>
        <p:spPr>
          <a:xfrm>
            <a:off x="9256014" y="1993392"/>
            <a:ext cx="1173861" cy="384048"/>
          </a:xfrm>
          <a:prstGeom prst="roundRect">
            <a:avLst>
              <a:gd name="adj" fmla="val 28571"/>
            </a:avLst>
          </a:prstGeom>
          <a:solidFill>
            <a:srgbClr val="E4F5EA"/>
          </a:solidFill>
          <a:ln/>
        </p:spPr>
      </p:sp>
      <p:sp>
        <p:nvSpPr>
          <p:cNvPr id="62" name="Text 60"/>
          <p:cNvSpPr/>
          <p:nvPr/>
        </p:nvSpPr>
        <p:spPr>
          <a:xfrm>
            <a:off x="9292590" y="1993392"/>
            <a:ext cx="1100709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760" dirty="0">
                <a:solidFill>
                  <a:srgbClr val="156B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RAG Retrieval</a:t>
            </a:r>
            <a:endParaRPr lang="en-US" sz="760" dirty="0"/>
          </a:p>
        </p:txBody>
      </p:sp>
      <p:sp>
        <p:nvSpPr>
          <p:cNvPr id="63" name="Shape 61"/>
          <p:cNvSpPr/>
          <p:nvPr/>
        </p:nvSpPr>
        <p:spPr>
          <a:xfrm>
            <a:off x="10503027" y="1993392"/>
            <a:ext cx="1173861" cy="384048"/>
          </a:xfrm>
          <a:prstGeom prst="roundRect">
            <a:avLst>
              <a:gd name="adj" fmla="val 28571"/>
            </a:avLst>
          </a:prstGeom>
          <a:solidFill>
            <a:srgbClr val="E4F5EA"/>
          </a:solidFill>
          <a:ln/>
        </p:spPr>
      </p:sp>
      <p:sp>
        <p:nvSpPr>
          <p:cNvPr id="64" name="Text 62"/>
          <p:cNvSpPr/>
          <p:nvPr/>
        </p:nvSpPr>
        <p:spPr>
          <a:xfrm>
            <a:off x="10539603" y="1993392"/>
            <a:ext cx="1100709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760" dirty="0">
                <a:solidFill>
                  <a:srgbClr val="156B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 Classification</a:t>
            </a:r>
            <a:endParaRPr lang="en-US" sz="760" dirty="0"/>
          </a:p>
        </p:txBody>
      </p:sp>
      <p:sp>
        <p:nvSpPr>
          <p:cNvPr id="65" name="Shape 63"/>
          <p:cNvSpPr/>
          <p:nvPr/>
        </p:nvSpPr>
        <p:spPr>
          <a:xfrm>
            <a:off x="9256014" y="2459736"/>
            <a:ext cx="1173861" cy="384048"/>
          </a:xfrm>
          <a:prstGeom prst="roundRect">
            <a:avLst>
              <a:gd name="adj" fmla="val 28571"/>
            </a:avLst>
          </a:prstGeom>
          <a:solidFill>
            <a:srgbClr val="E4F5EA"/>
          </a:solidFill>
          <a:ln/>
        </p:spPr>
      </p:sp>
      <p:sp>
        <p:nvSpPr>
          <p:cNvPr id="66" name="Text 64"/>
          <p:cNvSpPr/>
          <p:nvPr/>
        </p:nvSpPr>
        <p:spPr>
          <a:xfrm>
            <a:off x="9292590" y="2459736"/>
            <a:ext cx="1100709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760" dirty="0">
                <a:solidFill>
                  <a:srgbClr val="156B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Sentiment Analysis</a:t>
            </a:r>
            <a:endParaRPr lang="en-US" sz="760" dirty="0"/>
          </a:p>
        </p:txBody>
      </p:sp>
      <p:sp>
        <p:nvSpPr>
          <p:cNvPr id="67" name="Shape 65"/>
          <p:cNvSpPr/>
          <p:nvPr/>
        </p:nvSpPr>
        <p:spPr>
          <a:xfrm>
            <a:off x="10503027" y="2459736"/>
            <a:ext cx="1173861" cy="384048"/>
          </a:xfrm>
          <a:prstGeom prst="roundRect">
            <a:avLst>
              <a:gd name="adj" fmla="val 28571"/>
            </a:avLst>
          </a:prstGeom>
          <a:solidFill>
            <a:srgbClr val="E4F5EA"/>
          </a:solidFill>
          <a:ln/>
        </p:spPr>
      </p:sp>
      <p:sp>
        <p:nvSpPr>
          <p:cNvPr id="68" name="Text 66"/>
          <p:cNvSpPr/>
          <p:nvPr/>
        </p:nvSpPr>
        <p:spPr>
          <a:xfrm>
            <a:off x="10539603" y="2459736"/>
            <a:ext cx="1100709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760" dirty="0">
                <a:solidFill>
                  <a:srgbClr val="156B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Emotion Detection</a:t>
            </a:r>
            <a:endParaRPr lang="en-US" sz="760" dirty="0"/>
          </a:p>
        </p:txBody>
      </p:sp>
      <p:sp>
        <p:nvSpPr>
          <p:cNvPr id="69" name="Shape 67"/>
          <p:cNvSpPr/>
          <p:nvPr/>
        </p:nvSpPr>
        <p:spPr>
          <a:xfrm>
            <a:off x="9256014" y="2926080"/>
            <a:ext cx="1173861" cy="384048"/>
          </a:xfrm>
          <a:prstGeom prst="roundRect">
            <a:avLst>
              <a:gd name="adj" fmla="val 28571"/>
            </a:avLst>
          </a:prstGeom>
          <a:solidFill>
            <a:srgbClr val="E4F5EA"/>
          </a:solidFill>
          <a:ln/>
        </p:spPr>
      </p:sp>
      <p:sp>
        <p:nvSpPr>
          <p:cNvPr id="70" name="Text 68"/>
          <p:cNvSpPr/>
          <p:nvPr/>
        </p:nvSpPr>
        <p:spPr>
          <a:xfrm>
            <a:off x="9292590" y="2926080"/>
            <a:ext cx="1100709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760" dirty="0">
                <a:solidFill>
                  <a:srgbClr val="156B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KeyBERT Explainability</a:t>
            </a:r>
            <a:endParaRPr lang="en-US" sz="760" dirty="0"/>
          </a:p>
        </p:txBody>
      </p:sp>
      <p:sp>
        <p:nvSpPr>
          <p:cNvPr id="71" name="Shape 69"/>
          <p:cNvSpPr/>
          <p:nvPr/>
        </p:nvSpPr>
        <p:spPr>
          <a:xfrm>
            <a:off x="10503027" y="2926080"/>
            <a:ext cx="1173861" cy="384048"/>
          </a:xfrm>
          <a:prstGeom prst="roundRect">
            <a:avLst>
              <a:gd name="adj" fmla="val 28571"/>
            </a:avLst>
          </a:prstGeom>
          <a:solidFill>
            <a:srgbClr val="E4F5EA"/>
          </a:solidFill>
          <a:ln/>
        </p:spPr>
      </p:sp>
      <p:sp>
        <p:nvSpPr>
          <p:cNvPr id="72" name="Text 70"/>
          <p:cNvSpPr/>
          <p:nvPr/>
        </p:nvSpPr>
        <p:spPr>
          <a:xfrm>
            <a:off x="10539603" y="2926080"/>
            <a:ext cx="1100709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760" dirty="0">
                <a:solidFill>
                  <a:srgbClr val="156B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Conversational AI</a:t>
            </a:r>
            <a:endParaRPr lang="en-US" sz="760" dirty="0"/>
          </a:p>
        </p:txBody>
      </p:sp>
      <p:sp>
        <p:nvSpPr>
          <p:cNvPr id="73" name="Shape 71"/>
          <p:cNvSpPr/>
          <p:nvPr/>
        </p:nvSpPr>
        <p:spPr>
          <a:xfrm>
            <a:off x="9109710" y="3803904"/>
            <a:ext cx="2713482" cy="2304288"/>
          </a:xfrm>
          <a:prstGeom prst="roundRect">
            <a:avLst>
              <a:gd name="adj" fmla="val 3175"/>
            </a:avLst>
          </a:prstGeom>
          <a:solidFill>
            <a:srgbClr val="FFFFFF"/>
          </a:solidFill>
          <a:ln w="9525">
            <a:solidFill>
              <a:srgbClr val="D8DEE9"/>
            </a:solidFill>
            <a:prstDash val="solid"/>
          </a:ln>
          <a:effectLst>
            <a:outerShdw sx="100000" sy="100000" kx="0" ky="0" algn="bl" rotWithShape="0" blurRad="63500" dist="25400" dir="5400000">
              <a:srgbClr val="8A8A8A">
                <a:alpha val="25000"/>
              </a:srgbClr>
            </a:outerShdw>
          </a:effectLst>
        </p:spPr>
      </p:sp>
      <p:sp>
        <p:nvSpPr>
          <p:cNvPr id="74" name="Shape 72"/>
          <p:cNvSpPr/>
          <p:nvPr/>
        </p:nvSpPr>
        <p:spPr>
          <a:xfrm>
            <a:off x="9237726" y="3913632"/>
            <a:ext cx="274320" cy="27432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75" name="Text 73"/>
          <p:cNvSpPr/>
          <p:nvPr/>
        </p:nvSpPr>
        <p:spPr>
          <a:xfrm>
            <a:off x="9612630" y="3877056"/>
            <a:ext cx="207340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Technology Stack</a:t>
            </a:r>
            <a:endParaRPr lang="en-US" sz="1250" dirty="0"/>
          </a:p>
        </p:txBody>
      </p:sp>
      <p:sp>
        <p:nvSpPr>
          <p:cNvPr id="76" name="Shape 74"/>
          <p:cNvSpPr/>
          <p:nvPr/>
        </p:nvSpPr>
        <p:spPr>
          <a:xfrm>
            <a:off x="9256014" y="4261104"/>
            <a:ext cx="758190" cy="347472"/>
          </a:xfrm>
          <a:prstGeom prst="roundRect">
            <a:avLst>
              <a:gd name="adj" fmla="val 31579"/>
            </a:avLst>
          </a:prstGeom>
          <a:solidFill>
            <a:srgbClr val="EAF0FB"/>
          </a:solidFill>
          <a:ln/>
        </p:spPr>
      </p:sp>
      <p:sp>
        <p:nvSpPr>
          <p:cNvPr id="77" name="Text 75"/>
          <p:cNvSpPr/>
          <p:nvPr/>
        </p:nvSpPr>
        <p:spPr>
          <a:xfrm>
            <a:off x="9292590" y="4261104"/>
            <a:ext cx="68503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76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</a:t>
            </a:r>
            <a:endParaRPr lang="en-US" sz="760" dirty="0"/>
          </a:p>
        </p:txBody>
      </p:sp>
      <p:sp>
        <p:nvSpPr>
          <p:cNvPr id="78" name="Shape 76"/>
          <p:cNvSpPr/>
          <p:nvPr/>
        </p:nvSpPr>
        <p:spPr>
          <a:xfrm>
            <a:off x="10087356" y="4261104"/>
            <a:ext cx="758190" cy="347472"/>
          </a:xfrm>
          <a:prstGeom prst="roundRect">
            <a:avLst>
              <a:gd name="adj" fmla="val 31579"/>
            </a:avLst>
          </a:prstGeom>
          <a:solidFill>
            <a:srgbClr val="EAF0FB"/>
          </a:solidFill>
          <a:ln/>
        </p:spPr>
      </p:sp>
      <p:sp>
        <p:nvSpPr>
          <p:cNvPr id="79" name="Text 77"/>
          <p:cNvSpPr/>
          <p:nvPr/>
        </p:nvSpPr>
        <p:spPr>
          <a:xfrm>
            <a:off x="10123932" y="4261104"/>
            <a:ext cx="68503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76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Streamlit</a:t>
            </a:r>
            <a:endParaRPr lang="en-US" sz="760" dirty="0"/>
          </a:p>
        </p:txBody>
      </p:sp>
      <p:sp>
        <p:nvSpPr>
          <p:cNvPr id="80" name="Shape 78"/>
          <p:cNvSpPr/>
          <p:nvPr/>
        </p:nvSpPr>
        <p:spPr>
          <a:xfrm>
            <a:off x="10918698" y="4261104"/>
            <a:ext cx="758190" cy="347472"/>
          </a:xfrm>
          <a:prstGeom prst="roundRect">
            <a:avLst>
              <a:gd name="adj" fmla="val 31579"/>
            </a:avLst>
          </a:prstGeom>
          <a:solidFill>
            <a:srgbClr val="EAF0FB"/>
          </a:solidFill>
          <a:ln/>
        </p:spPr>
      </p:sp>
      <p:sp>
        <p:nvSpPr>
          <p:cNvPr id="81" name="Text 79"/>
          <p:cNvSpPr/>
          <p:nvPr/>
        </p:nvSpPr>
        <p:spPr>
          <a:xfrm>
            <a:off x="10955274" y="4261104"/>
            <a:ext cx="68503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76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FAISS</a:t>
            </a:r>
            <a:endParaRPr lang="en-US" sz="760" dirty="0"/>
          </a:p>
        </p:txBody>
      </p:sp>
      <p:sp>
        <p:nvSpPr>
          <p:cNvPr id="82" name="Shape 80"/>
          <p:cNvSpPr/>
          <p:nvPr/>
        </p:nvSpPr>
        <p:spPr>
          <a:xfrm>
            <a:off x="9256014" y="4690872"/>
            <a:ext cx="758190" cy="347472"/>
          </a:xfrm>
          <a:prstGeom prst="roundRect">
            <a:avLst>
              <a:gd name="adj" fmla="val 31579"/>
            </a:avLst>
          </a:prstGeom>
          <a:solidFill>
            <a:srgbClr val="EAF0FB"/>
          </a:solidFill>
          <a:ln/>
        </p:spPr>
      </p:sp>
      <p:sp>
        <p:nvSpPr>
          <p:cNvPr id="83" name="Text 81"/>
          <p:cNvSpPr/>
          <p:nvPr/>
        </p:nvSpPr>
        <p:spPr>
          <a:xfrm>
            <a:off x="9292590" y="4690872"/>
            <a:ext cx="68503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76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SQLite</a:t>
            </a:r>
            <a:endParaRPr lang="en-US" sz="760" dirty="0"/>
          </a:p>
        </p:txBody>
      </p:sp>
      <p:sp>
        <p:nvSpPr>
          <p:cNvPr id="84" name="Shape 82"/>
          <p:cNvSpPr/>
          <p:nvPr/>
        </p:nvSpPr>
        <p:spPr>
          <a:xfrm>
            <a:off x="10087356" y="4690872"/>
            <a:ext cx="758190" cy="347472"/>
          </a:xfrm>
          <a:prstGeom prst="roundRect">
            <a:avLst>
              <a:gd name="adj" fmla="val 31579"/>
            </a:avLst>
          </a:prstGeom>
          <a:solidFill>
            <a:srgbClr val="EAF0FB"/>
          </a:solidFill>
          <a:ln/>
        </p:spPr>
      </p:sp>
      <p:sp>
        <p:nvSpPr>
          <p:cNvPr id="85" name="Text 83"/>
          <p:cNvSpPr/>
          <p:nvPr/>
        </p:nvSpPr>
        <p:spPr>
          <a:xfrm>
            <a:off x="10123932" y="4690872"/>
            <a:ext cx="68503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76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Sentence-Transf.</a:t>
            </a:r>
            <a:endParaRPr lang="en-US" sz="760" dirty="0"/>
          </a:p>
        </p:txBody>
      </p:sp>
      <p:sp>
        <p:nvSpPr>
          <p:cNvPr id="86" name="Shape 84"/>
          <p:cNvSpPr/>
          <p:nvPr/>
        </p:nvSpPr>
        <p:spPr>
          <a:xfrm>
            <a:off x="10918698" y="4690872"/>
            <a:ext cx="758190" cy="347472"/>
          </a:xfrm>
          <a:prstGeom prst="roundRect">
            <a:avLst>
              <a:gd name="adj" fmla="val 31579"/>
            </a:avLst>
          </a:prstGeom>
          <a:solidFill>
            <a:srgbClr val="EAF0FB"/>
          </a:solidFill>
          <a:ln/>
        </p:spPr>
      </p:sp>
      <p:sp>
        <p:nvSpPr>
          <p:cNvPr id="87" name="Text 85"/>
          <p:cNvSpPr/>
          <p:nvPr/>
        </p:nvSpPr>
        <p:spPr>
          <a:xfrm>
            <a:off x="10955274" y="4690872"/>
            <a:ext cx="68503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76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OpenAI</a:t>
            </a:r>
            <a:endParaRPr lang="en-US" sz="760" dirty="0"/>
          </a:p>
        </p:txBody>
      </p:sp>
      <p:sp>
        <p:nvSpPr>
          <p:cNvPr id="88" name="Shape 86"/>
          <p:cNvSpPr/>
          <p:nvPr/>
        </p:nvSpPr>
        <p:spPr>
          <a:xfrm>
            <a:off x="9256014" y="5120640"/>
            <a:ext cx="758190" cy="347472"/>
          </a:xfrm>
          <a:prstGeom prst="roundRect">
            <a:avLst>
              <a:gd name="adj" fmla="val 31579"/>
            </a:avLst>
          </a:prstGeom>
          <a:solidFill>
            <a:srgbClr val="EAF0FB"/>
          </a:solidFill>
          <a:ln/>
        </p:spPr>
      </p:sp>
      <p:sp>
        <p:nvSpPr>
          <p:cNvPr id="89" name="Text 87"/>
          <p:cNvSpPr/>
          <p:nvPr/>
        </p:nvSpPr>
        <p:spPr>
          <a:xfrm>
            <a:off x="9292590" y="5120640"/>
            <a:ext cx="68503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76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Gemini</a:t>
            </a:r>
            <a:endParaRPr lang="en-US" sz="760" dirty="0"/>
          </a:p>
        </p:txBody>
      </p:sp>
      <p:sp>
        <p:nvSpPr>
          <p:cNvPr id="90" name="Shape 88"/>
          <p:cNvSpPr/>
          <p:nvPr/>
        </p:nvSpPr>
        <p:spPr>
          <a:xfrm>
            <a:off x="10087356" y="5120640"/>
            <a:ext cx="758190" cy="347472"/>
          </a:xfrm>
          <a:prstGeom prst="roundRect">
            <a:avLst>
              <a:gd name="adj" fmla="val 31579"/>
            </a:avLst>
          </a:prstGeom>
          <a:solidFill>
            <a:srgbClr val="EAF0FB"/>
          </a:solidFill>
          <a:ln/>
        </p:spPr>
      </p:sp>
      <p:sp>
        <p:nvSpPr>
          <p:cNvPr id="91" name="Text 89"/>
          <p:cNvSpPr/>
          <p:nvPr/>
        </p:nvSpPr>
        <p:spPr>
          <a:xfrm>
            <a:off x="10123932" y="5120640"/>
            <a:ext cx="68503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76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DistilBERT</a:t>
            </a:r>
            <a:endParaRPr lang="en-US" sz="760" dirty="0"/>
          </a:p>
        </p:txBody>
      </p:sp>
      <p:sp>
        <p:nvSpPr>
          <p:cNvPr id="92" name="Shape 90"/>
          <p:cNvSpPr/>
          <p:nvPr/>
        </p:nvSpPr>
        <p:spPr>
          <a:xfrm>
            <a:off x="10918698" y="5120640"/>
            <a:ext cx="758190" cy="347472"/>
          </a:xfrm>
          <a:prstGeom prst="roundRect">
            <a:avLst>
              <a:gd name="adj" fmla="val 31579"/>
            </a:avLst>
          </a:prstGeom>
          <a:solidFill>
            <a:srgbClr val="EAF0FB"/>
          </a:solidFill>
          <a:ln/>
        </p:spPr>
      </p:sp>
      <p:sp>
        <p:nvSpPr>
          <p:cNvPr id="93" name="Text 91"/>
          <p:cNvSpPr/>
          <p:nvPr/>
        </p:nvSpPr>
        <p:spPr>
          <a:xfrm>
            <a:off x="10955274" y="5120640"/>
            <a:ext cx="68503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76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KeyBERT</a:t>
            </a:r>
            <a:endParaRPr lang="en-US" sz="760" dirty="0"/>
          </a:p>
        </p:txBody>
      </p:sp>
      <p:sp>
        <p:nvSpPr>
          <p:cNvPr id="94" name="Shape 92"/>
          <p:cNvSpPr/>
          <p:nvPr/>
        </p:nvSpPr>
        <p:spPr>
          <a:xfrm>
            <a:off x="9256014" y="5550408"/>
            <a:ext cx="758190" cy="347472"/>
          </a:xfrm>
          <a:prstGeom prst="roundRect">
            <a:avLst>
              <a:gd name="adj" fmla="val 31579"/>
            </a:avLst>
          </a:prstGeom>
          <a:solidFill>
            <a:srgbClr val="EAF0FB"/>
          </a:solidFill>
          <a:ln/>
        </p:spPr>
      </p:sp>
      <p:sp>
        <p:nvSpPr>
          <p:cNvPr id="95" name="Text 93"/>
          <p:cNvSpPr/>
          <p:nvPr/>
        </p:nvSpPr>
        <p:spPr>
          <a:xfrm>
            <a:off x="9292590" y="5550408"/>
            <a:ext cx="68503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76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Pandas</a:t>
            </a:r>
            <a:endParaRPr lang="en-US" sz="760" dirty="0"/>
          </a:p>
        </p:txBody>
      </p:sp>
      <p:sp>
        <p:nvSpPr>
          <p:cNvPr id="96" name="Shape 94"/>
          <p:cNvSpPr/>
          <p:nvPr/>
        </p:nvSpPr>
        <p:spPr>
          <a:xfrm>
            <a:off x="10087356" y="5550408"/>
            <a:ext cx="758190" cy="347472"/>
          </a:xfrm>
          <a:prstGeom prst="roundRect">
            <a:avLst>
              <a:gd name="adj" fmla="val 31579"/>
            </a:avLst>
          </a:prstGeom>
          <a:solidFill>
            <a:srgbClr val="EAF0FB"/>
          </a:solidFill>
          <a:ln/>
        </p:spPr>
      </p:sp>
      <p:sp>
        <p:nvSpPr>
          <p:cNvPr id="97" name="Text 95"/>
          <p:cNvSpPr/>
          <p:nvPr/>
        </p:nvSpPr>
        <p:spPr>
          <a:xfrm>
            <a:off x="10123932" y="5550408"/>
            <a:ext cx="68503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76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bcrypt</a:t>
            </a:r>
            <a:endParaRPr lang="en-US" sz="760" dirty="0"/>
          </a:p>
        </p:txBody>
      </p:sp>
      <p:sp>
        <p:nvSpPr>
          <p:cNvPr id="98" name="Shape 96"/>
          <p:cNvSpPr/>
          <p:nvPr/>
        </p:nvSpPr>
        <p:spPr>
          <a:xfrm>
            <a:off x="10918698" y="5550408"/>
            <a:ext cx="758190" cy="347472"/>
          </a:xfrm>
          <a:prstGeom prst="roundRect">
            <a:avLst>
              <a:gd name="adj" fmla="val 31579"/>
            </a:avLst>
          </a:prstGeom>
          <a:solidFill>
            <a:srgbClr val="EAF0FB"/>
          </a:solidFill>
          <a:ln/>
        </p:spPr>
      </p:sp>
      <p:sp>
        <p:nvSpPr>
          <p:cNvPr id="99" name="Text 97"/>
          <p:cNvSpPr/>
          <p:nvPr/>
        </p:nvSpPr>
        <p:spPr>
          <a:xfrm>
            <a:off x="10955274" y="5550408"/>
            <a:ext cx="68503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76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Matplotlib</a:t>
            </a:r>
            <a:endParaRPr lang="en-US" sz="760" dirty="0"/>
          </a:p>
        </p:txBody>
      </p:sp>
      <p:sp>
        <p:nvSpPr>
          <p:cNvPr id="100" name="Text 98"/>
          <p:cNvSpPr/>
          <p:nvPr/>
        </p:nvSpPr>
        <p:spPr>
          <a:xfrm>
            <a:off x="365760" y="6153912"/>
            <a:ext cx="20116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5B3E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DEVELOPMENT TIMELINE</a:t>
            </a:r>
            <a:endParaRPr lang="en-US" sz="800" dirty="0"/>
          </a:p>
        </p:txBody>
      </p:sp>
      <p:sp>
        <p:nvSpPr>
          <p:cNvPr id="101" name="Shape 99"/>
          <p:cNvSpPr/>
          <p:nvPr/>
        </p:nvSpPr>
        <p:spPr>
          <a:xfrm>
            <a:off x="886206" y="6345936"/>
            <a:ext cx="109728" cy="109728"/>
          </a:xfrm>
          <a:prstGeom prst="ellipse">
            <a:avLst/>
          </a:prstGeom>
          <a:solidFill>
            <a:srgbClr val="0092A8"/>
          </a:solidFill>
          <a:ln/>
        </p:spPr>
      </p:sp>
      <p:sp>
        <p:nvSpPr>
          <p:cNvPr id="102" name="Shape 100"/>
          <p:cNvSpPr/>
          <p:nvPr/>
        </p:nvSpPr>
        <p:spPr>
          <a:xfrm>
            <a:off x="995934" y="6400800"/>
            <a:ext cx="1040892" cy="0"/>
          </a:xfrm>
          <a:prstGeom prst="line">
            <a:avLst/>
          </a:prstGeom>
          <a:noFill/>
          <a:ln w="15875">
            <a:solidFill>
              <a:srgbClr val="D8DEE9"/>
            </a:solidFill>
            <a:prstDash val="solid"/>
          </a:ln>
        </p:spPr>
      </p:sp>
      <p:sp>
        <p:nvSpPr>
          <p:cNvPr id="103" name="Text 101"/>
          <p:cNvSpPr/>
          <p:nvPr/>
        </p:nvSpPr>
        <p:spPr>
          <a:xfrm>
            <a:off x="365760" y="6473952"/>
            <a:ext cx="11506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30" b="1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Planning</a:t>
            </a:r>
            <a:endParaRPr lang="en-US" sz="730" dirty="0"/>
          </a:p>
        </p:txBody>
      </p:sp>
      <p:sp>
        <p:nvSpPr>
          <p:cNvPr id="104" name="Text 102"/>
          <p:cNvSpPr/>
          <p:nvPr/>
        </p:nvSpPr>
        <p:spPr>
          <a:xfrm>
            <a:off x="365760" y="6601968"/>
            <a:ext cx="115062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6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1/27</a:t>
            </a:r>
            <a:endParaRPr lang="en-US" sz="660" dirty="0"/>
          </a:p>
        </p:txBody>
      </p:sp>
      <p:sp>
        <p:nvSpPr>
          <p:cNvPr id="105" name="Shape 103"/>
          <p:cNvSpPr/>
          <p:nvPr/>
        </p:nvSpPr>
        <p:spPr>
          <a:xfrm>
            <a:off x="2036826" y="6345936"/>
            <a:ext cx="109728" cy="109728"/>
          </a:xfrm>
          <a:prstGeom prst="ellipse">
            <a:avLst/>
          </a:prstGeom>
          <a:solidFill>
            <a:srgbClr val="0092A8"/>
          </a:solidFill>
          <a:ln/>
        </p:spPr>
      </p:sp>
      <p:sp>
        <p:nvSpPr>
          <p:cNvPr id="106" name="Shape 104"/>
          <p:cNvSpPr/>
          <p:nvPr/>
        </p:nvSpPr>
        <p:spPr>
          <a:xfrm>
            <a:off x="2146554" y="6400800"/>
            <a:ext cx="1040892" cy="0"/>
          </a:xfrm>
          <a:prstGeom prst="line">
            <a:avLst/>
          </a:prstGeom>
          <a:noFill/>
          <a:ln w="15875">
            <a:solidFill>
              <a:srgbClr val="D8DEE9"/>
            </a:solidFill>
            <a:prstDash val="solid"/>
          </a:ln>
        </p:spPr>
      </p:sp>
      <p:sp>
        <p:nvSpPr>
          <p:cNvPr id="107" name="Text 105"/>
          <p:cNvSpPr/>
          <p:nvPr/>
        </p:nvSpPr>
        <p:spPr>
          <a:xfrm>
            <a:off x="1516380" y="6473952"/>
            <a:ext cx="11506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30" b="1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Lit. Review</a:t>
            </a:r>
            <a:endParaRPr lang="en-US" sz="730" dirty="0"/>
          </a:p>
        </p:txBody>
      </p:sp>
      <p:sp>
        <p:nvSpPr>
          <p:cNvPr id="108" name="Text 106"/>
          <p:cNvSpPr/>
          <p:nvPr/>
        </p:nvSpPr>
        <p:spPr>
          <a:xfrm>
            <a:off x="1516380" y="6601968"/>
            <a:ext cx="115062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6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3/1</a:t>
            </a:r>
            <a:endParaRPr lang="en-US" sz="660" dirty="0"/>
          </a:p>
        </p:txBody>
      </p:sp>
      <p:sp>
        <p:nvSpPr>
          <p:cNvPr id="109" name="Shape 107"/>
          <p:cNvSpPr/>
          <p:nvPr/>
        </p:nvSpPr>
        <p:spPr>
          <a:xfrm>
            <a:off x="3187446" y="6345936"/>
            <a:ext cx="109728" cy="109728"/>
          </a:xfrm>
          <a:prstGeom prst="ellipse">
            <a:avLst/>
          </a:prstGeom>
          <a:solidFill>
            <a:srgbClr val="0092A8"/>
          </a:solidFill>
          <a:ln/>
        </p:spPr>
      </p:sp>
      <p:sp>
        <p:nvSpPr>
          <p:cNvPr id="110" name="Shape 108"/>
          <p:cNvSpPr/>
          <p:nvPr/>
        </p:nvSpPr>
        <p:spPr>
          <a:xfrm>
            <a:off x="3297174" y="6400800"/>
            <a:ext cx="1040892" cy="0"/>
          </a:xfrm>
          <a:prstGeom prst="line">
            <a:avLst/>
          </a:prstGeom>
          <a:noFill/>
          <a:ln w="15875">
            <a:solidFill>
              <a:srgbClr val="D8DEE9"/>
            </a:solidFill>
            <a:prstDash val="solid"/>
          </a:ln>
        </p:spPr>
      </p:sp>
      <p:sp>
        <p:nvSpPr>
          <p:cNvPr id="111" name="Text 109"/>
          <p:cNvSpPr/>
          <p:nvPr/>
        </p:nvSpPr>
        <p:spPr>
          <a:xfrm>
            <a:off x="2667000" y="6473952"/>
            <a:ext cx="11506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30" b="1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Requirements</a:t>
            </a:r>
            <a:endParaRPr lang="en-US" sz="730" dirty="0"/>
          </a:p>
        </p:txBody>
      </p:sp>
      <p:sp>
        <p:nvSpPr>
          <p:cNvPr id="112" name="Text 110"/>
          <p:cNvSpPr/>
          <p:nvPr/>
        </p:nvSpPr>
        <p:spPr>
          <a:xfrm>
            <a:off x="2667000" y="6601968"/>
            <a:ext cx="115062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6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3/1</a:t>
            </a:r>
            <a:endParaRPr lang="en-US" sz="660" dirty="0"/>
          </a:p>
        </p:txBody>
      </p:sp>
      <p:sp>
        <p:nvSpPr>
          <p:cNvPr id="113" name="Shape 111"/>
          <p:cNvSpPr/>
          <p:nvPr/>
        </p:nvSpPr>
        <p:spPr>
          <a:xfrm>
            <a:off x="4338066" y="6345936"/>
            <a:ext cx="109728" cy="109728"/>
          </a:xfrm>
          <a:prstGeom prst="ellipse">
            <a:avLst/>
          </a:prstGeom>
          <a:solidFill>
            <a:srgbClr val="0092A8"/>
          </a:solidFill>
          <a:ln/>
        </p:spPr>
      </p:sp>
      <p:sp>
        <p:nvSpPr>
          <p:cNvPr id="114" name="Shape 112"/>
          <p:cNvSpPr/>
          <p:nvPr/>
        </p:nvSpPr>
        <p:spPr>
          <a:xfrm>
            <a:off x="4447794" y="6400800"/>
            <a:ext cx="1040892" cy="0"/>
          </a:xfrm>
          <a:prstGeom prst="line">
            <a:avLst/>
          </a:prstGeom>
          <a:noFill/>
          <a:ln w="15875">
            <a:solidFill>
              <a:srgbClr val="D8DEE9"/>
            </a:solidFill>
            <a:prstDash val="solid"/>
          </a:ln>
        </p:spPr>
      </p:sp>
      <p:sp>
        <p:nvSpPr>
          <p:cNvPr id="115" name="Text 113"/>
          <p:cNvSpPr/>
          <p:nvPr/>
        </p:nvSpPr>
        <p:spPr>
          <a:xfrm>
            <a:off x="3817620" y="6473952"/>
            <a:ext cx="11506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30" b="1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</a:t>
            </a:r>
            <a:endParaRPr lang="en-US" sz="730" dirty="0"/>
          </a:p>
        </p:txBody>
      </p:sp>
      <p:sp>
        <p:nvSpPr>
          <p:cNvPr id="116" name="Text 114"/>
          <p:cNvSpPr/>
          <p:nvPr/>
        </p:nvSpPr>
        <p:spPr>
          <a:xfrm>
            <a:off x="3817620" y="6601968"/>
            <a:ext cx="115062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6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4/3</a:t>
            </a:r>
            <a:endParaRPr lang="en-US" sz="660" dirty="0"/>
          </a:p>
        </p:txBody>
      </p:sp>
      <p:sp>
        <p:nvSpPr>
          <p:cNvPr id="117" name="Shape 115"/>
          <p:cNvSpPr/>
          <p:nvPr/>
        </p:nvSpPr>
        <p:spPr>
          <a:xfrm>
            <a:off x="5488686" y="6345936"/>
            <a:ext cx="109728" cy="109728"/>
          </a:xfrm>
          <a:prstGeom prst="ellipse">
            <a:avLst/>
          </a:prstGeom>
          <a:solidFill>
            <a:srgbClr val="0092A8"/>
          </a:solidFill>
          <a:ln/>
        </p:spPr>
      </p:sp>
      <p:sp>
        <p:nvSpPr>
          <p:cNvPr id="118" name="Shape 116"/>
          <p:cNvSpPr/>
          <p:nvPr/>
        </p:nvSpPr>
        <p:spPr>
          <a:xfrm>
            <a:off x="5598414" y="6400800"/>
            <a:ext cx="1040892" cy="0"/>
          </a:xfrm>
          <a:prstGeom prst="line">
            <a:avLst/>
          </a:prstGeom>
          <a:noFill/>
          <a:ln w="15875">
            <a:solidFill>
              <a:srgbClr val="D8DEE9"/>
            </a:solidFill>
            <a:prstDash val="solid"/>
          </a:ln>
        </p:spPr>
      </p:sp>
      <p:sp>
        <p:nvSpPr>
          <p:cNvPr id="119" name="Text 117"/>
          <p:cNvSpPr/>
          <p:nvPr/>
        </p:nvSpPr>
        <p:spPr>
          <a:xfrm>
            <a:off x="4968240" y="6473952"/>
            <a:ext cx="11506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30" b="1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Implementation</a:t>
            </a:r>
            <a:endParaRPr lang="en-US" sz="730" dirty="0"/>
          </a:p>
        </p:txBody>
      </p:sp>
      <p:sp>
        <p:nvSpPr>
          <p:cNvPr id="120" name="Text 118"/>
          <p:cNvSpPr/>
          <p:nvPr/>
        </p:nvSpPr>
        <p:spPr>
          <a:xfrm>
            <a:off x="4968240" y="6601968"/>
            <a:ext cx="115062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6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5/17</a:t>
            </a:r>
            <a:endParaRPr lang="en-US" sz="660" dirty="0"/>
          </a:p>
        </p:txBody>
      </p:sp>
      <p:sp>
        <p:nvSpPr>
          <p:cNvPr id="121" name="Shape 119"/>
          <p:cNvSpPr/>
          <p:nvPr/>
        </p:nvSpPr>
        <p:spPr>
          <a:xfrm>
            <a:off x="6639306" y="6345936"/>
            <a:ext cx="109728" cy="109728"/>
          </a:xfrm>
          <a:prstGeom prst="ellipse">
            <a:avLst/>
          </a:prstGeom>
          <a:solidFill>
            <a:srgbClr val="0092A8"/>
          </a:solidFill>
          <a:ln/>
        </p:spPr>
      </p:sp>
      <p:sp>
        <p:nvSpPr>
          <p:cNvPr id="122" name="Text 120"/>
          <p:cNvSpPr/>
          <p:nvPr/>
        </p:nvSpPr>
        <p:spPr>
          <a:xfrm>
            <a:off x="6118860" y="6473952"/>
            <a:ext cx="11506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30" b="1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Testing &amp; Final</a:t>
            </a:r>
            <a:endParaRPr lang="en-US" sz="730" dirty="0"/>
          </a:p>
        </p:txBody>
      </p:sp>
      <p:sp>
        <p:nvSpPr>
          <p:cNvPr id="123" name="Text 121"/>
          <p:cNvSpPr/>
          <p:nvPr/>
        </p:nvSpPr>
        <p:spPr>
          <a:xfrm>
            <a:off x="6118860" y="6601968"/>
            <a:ext cx="115062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6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5/24</a:t>
            </a:r>
            <a:endParaRPr lang="en-US" sz="660" dirty="0"/>
          </a:p>
        </p:txBody>
      </p:sp>
      <p:sp>
        <p:nvSpPr>
          <p:cNvPr id="124" name="Text 122"/>
          <p:cNvSpPr/>
          <p:nvPr/>
        </p:nvSpPr>
        <p:spPr>
          <a:xfrm>
            <a:off x="7452360" y="6153912"/>
            <a:ext cx="2743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1F9D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OUTCOMES</a:t>
            </a:r>
            <a:endParaRPr lang="en-US" sz="800" dirty="0"/>
          </a:p>
        </p:txBody>
      </p:sp>
      <p:sp>
        <p:nvSpPr>
          <p:cNvPr id="125" name="Text 123"/>
          <p:cNvSpPr/>
          <p:nvPr/>
        </p:nvSpPr>
        <p:spPr>
          <a:xfrm>
            <a:off x="7452360" y="6345936"/>
            <a:ext cx="437083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60" dirty="0">
                <a:solidFill>
                  <a:srgbClr val="156B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✔ Streamlit App   </a:t>
            </a:r>
            <a:pPr indent="0" marL="0">
              <a:buNone/>
            </a:pPr>
            <a:r>
              <a:rPr lang="en-US" sz="760" dirty="0">
                <a:solidFill>
                  <a:srgbClr val="156B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✔ RAG Engine   </a:t>
            </a:r>
            <a:pPr indent="0" marL="0">
              <a:buNone/>
            </a:pPr>
            <a:r>
              <a:rPr lang="en-US" sz="760" dirty="0">
                <a:solidFill>
                  <a:srgbClr val="156B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✔ 3 Dashboards   </a:t>
            </a:r>
            <a:pPr indent="0" marL="0">
              <a:buNone/>
            </a:pPr>
            <a:r>
              <a:rPr lang="en-US" sz="760" dirty="0">
                <a:solidFill>
                  <a:srgbClr val="156B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✔ Analytics &amp; Feedback   </a:t>
            </a:r>
            <a:pPr indent="0" marL="0">
              <a:buNone/>
            </a:pPr>
            <a:r>
              <a:rPr lang="en-US" sz="760" dirty="0">
                <a:solidFill>
                  <a:srgbClr val="156B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✔ Docs &amp; GitHub Repo</a:t>
            </a:r>
            <a:endParaRPr lang="en-US" sz="760" dirty="0"/>
          </a:p>
        </p:txBody>
      </p:sp>
      <p:sp>
        <p:nvSpPr>
          <p:cNvPr id="126" name="Text 124"/>
          <p:cNvSpPr/>
          <p:nvPr/>
        </p:nvSpPr>
        <p:spPr>
          <a:xfrm>
            <a:off x="7452360" y="6583680"/>
            <a:ext cx="437083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30" i="1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github.com/moustafamansour42005/ticket-classification-rag</a:t>
            </a:r>
            <a:endParaRPr lang="en-US" sz="73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2026-08-12T14:04:43Z</dcterms:created>
  <dcterms:modified xsi:type="dcterms:W3CDTF">2026-08-12T14:04:43Z</dcterms:modified>
</cp:coreProperties>
</file>